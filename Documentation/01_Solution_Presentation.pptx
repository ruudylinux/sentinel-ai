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SENTINEL VISION and say up front that everything shown is labelled current, demonstrated or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GOVERNMENT CHALLENGE · SOLUTION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E6EDF6"/>
                </a:solidFill>
                <a:latin typeface="Segoe UI"/>
              </a:rPr>
              <a:t>SENTINEL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0584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B8C6DA"/>
                </a:solidFill>
                <a:latin typeface="Segoe UI"/>
              </a:rPr>
              <a:t>Unified CCTV Intelligence &amp; Real-Time Smart Policing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86200"/>
            <a:ext cx="20116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058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6EDF6"/>
                </a:solidFill>
                <a:latin typeface="Segoe UI"/>
              </a:rPr>
              <a:t>Camera integration · AI video analytics · ANPR · Alerts &amp; incidents · Evidence · GIS · Self-Heal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300" b="0">
                <a:solidFill>
                  <a:srgbClr val="93A4BC"/>
                </a:solidFill>
                <a:latin typeface="Segoe UI"/>
              </a:rPr>
              <a:t>Every capability shown is implemented in the repository and labelled Current, Demonstrated or Future.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3A4BC"/>
                </a:solidFill>
                <a:latin typeface="Segoe UI"/>
              </a:rPr>
              <a:t>github.com/RuudyLinux/SENTINEL-AI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The problem control rooms face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64008" cy="7863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310896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6EDF6"/>
                </a:solidFill>
                <a:latin typeface="Segoe UI"/>
              </a:rPr>
              <a:t>Fragmented CCTV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91640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3A4BC"/>
                </a:solidFill>
                <a:latin typeface="Segoe UI"/>
              </a:rPr>
              <a:t>Cameras sit behind different vendors, recorders and VMS products, each with its own screen.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32888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32888"/>
            <a:ext cx="64008" cy="7863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24328"/>
            <a:ext cx="310896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6EDF6"/>
                </a:solidFill>
                <a:latin typeface="Segoe UI"/>
              </a:rPr>
              <a:t>Manual monitoring burden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624328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3A4BC"/>
                </a:solidFill>
                <a:latin typeface="Segoe UI"/>
              </a:rPr>
              <a:t>Operators watch many feeds at once; attention does not grow with camera 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65576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65576"/>
            <a:ext cx="64008" cy="78638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57016"/>
            <a:ext cx="310896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6EDF6"/>
                </a:solidFill>
                <a:latin typeface="Segoe UI"/>
              </a:rPr>
              <a:t>Delayed identification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57016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3A4BC"/>
                </a:solidFill>
                <a:latin typeface="Segoe UI"/>
              </a:rPr>
              <a:t>A watch-listed vehicle or a restricted-area intrusion is often found after the fact.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9826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398264"/>
            <a:ext cx="64008" cy="7863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89704"/>
            <a:ext cx="310896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6EDF6"/>
                </a:solidFill>
                <a:latin typeface="Segoe UI"/>
              </a:rPr>
              <a:t>Hard investigations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489704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3A4BC"/>
                </a:solidFill>
                <a:latin typeface="Segoe UI"/>
              </a:rPr>
              <a:t>Tracing a vehicle means scrubbing footage camera by camera and collecting evidence by hand.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30952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30952"/>
            <a:ext cx="64008" cy="78638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22392"/>
            <a:ext cx="310896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E6EDF6"/>
                </a:solidFill>
                <a:latin typeface="Segoe UI"/>
              </a:rPr>
              <a:t>Camera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422392"/>
            <a:ext cx="7498079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3A4BC"/>
                </a:solidFill>
                <a:latin typeface="Segoe UI"/>
              </a:rPr>
              <a:t>Streams drop, credentials fail and bandwidth varies, often without anyone noticing.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SENTINEL VISION in one sentence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E6EDF6"/>
                </a:solidFill>
                <a:latin typeface="Segoe UI"/>
              </a:rPr>
              <a:t>One web platform that connects cameras from any source, watches them with AI, raises alerts when rules are broken, and hands operators verifiable evidence and a map to act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3529584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3108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3A4BC"/>
                </a:solidFill>
                <a:latin typeface="Segoe UI"/>
              </a:rPr>
              <a:t>One camera registry for webcam, video, RTSP and the Sentinel Grid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60604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2606040"/>
            <a:ext cx="3529584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88036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DD4BF"/>
                </a:solidFill>
                <a:latin typeface="Segoe UI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383280"/>
            <a:ext cx="3108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3A4BC"/>
                </a:solidFill>
                <a:latin typeface="Segoe UI"/>
              </a:rPr>
              <a:t>People, vehicles and number plates, per camera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260604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2606040"/>
            <a:ext cx="3529584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88036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97316"/>
                </a:solidFill>
                <a:latin typeface="Segoe UI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3383280"/>
            <a:ext cx="3108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3A4BC"/>
                </a:solidFill>
                <a:latin typeface="Segoe UI"/>
              </a:rPr>
              <a:t>Zones, watchlists and loitering rules raise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3484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3529584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09159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F4444"/>
                </a:solidFill>
                <a:latin typeface="Segoe UI"/>
              </a:rPr>
              <a:t>Respond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79"/>
            <a:ext cx="3108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3A4BC"/>
                </a:solidFill>
                <a:latin typeface="Segoe UI"/>
              </a:rPr>
              <a:t>Alerts grow into correlated incidents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443484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9392" y="4434840"/>
            <a:ext cx="3529584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4709159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5212079"/>
            <a:ext cx="3108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3A4BC"/>
                </a:solidFill>
                <a:latin typeface="Segoe UI"/>
              </a:rPr>
              <a:t>Hashed snapshots, clips and incident evidence packages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4434840"/>
            <a:ext cx="3529584" cy="162763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0144" y="4434840"/>
            <a:ext cx="3529584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4" y="4709159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59E0B"/>
                </a:solidFill>
                <a:latin typeface="Segoe UI"/>
              </a:rPr>
              <a:t>Stay 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5212079"/>
            <a:ext cx="3108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3A4BC"/>
                </a:solidFill>
                <a:latin typeface="Segoe UI"/>
              </a:rPr>
              <a:t>Self-Heal reconnects cameras and reports what failed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Solution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472184"/>
            <a:ext cx="10588752" cy="441655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210" y="1508760"/>
            <a:ext cx="6515100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3A4BC"/>
                </a:solidFill>
                <a:latin typeface="Segoe UI"/>
              </a:rPr>
              <a:t>Four tiers: Next.js dashboard · FastAPI REST + WebSocket · per-camera AI pipeline · SQLite / PostgreSQL + evidence store. Everything shown is implemented.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CAMERA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CCTV and camera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7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Central camera registry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8249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Every camera in one catalogue with location, status and AI switches.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5292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Camera adapters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87121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8211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Webcam, uploaded video, RTSP (TCP or UDP), mock VMS behind one interface.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4164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Sentinel Grid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05993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2D3EE"/>
                </a:solidFill>
                <a:latin typeface="Segoe UI"/>
              </a:rPr>
              <a:t>DEMONSTRATED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7083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Catalogue sync of 30 cameras, autoconnect, bulk control. Streaming is partial today (see slide 12).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036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VMS federation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24865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A78BFA"/>
                </a:solidFill>
                <a:latin typeface="Segoe UI"/>
              </a:rPr>
              <a:t>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5955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New VMS products join as adapters; ONVIF is an interface stub.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52744" y="1563624"/>
            <a:ext cx="5696712" cy="469087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4_camera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27433"/>
            <a:ext cx="5623560" cy="31632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AI VIDEO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AI video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7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Ultralytics YOLO11s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8249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Person and vehicle detection at 960 px on one shared GPU model (successor to the earlier YOLOv8s baseline).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5292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ByteTrack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87121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8211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A tracker per camera, so every object keeps one ID across frames.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4164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EasyOCR ANPR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05993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7083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A plate detector finds the plate; EasyOCR reads it; reads are voted across frames.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036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Selective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24865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5955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Person, vehicle and ANPR switched per camera; AI slots rotate when hardware is short.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52744" y="1563624"/>
            <a:ext cx="5696712" cy="469087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5_live_ai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27433"/>
            <a:ext cx="5623560" cy="3163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EVENT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Intelligent event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691640" cy="173736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69164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1417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DD4BF"/>
                </a:solidFill>
                <a:latin typeface="Segoe UI"/>
              </a:rP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14173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3A4BC"/>
                </a:solidFill>
                <a:latin typeface="Segoe UI"/>
              </a:rPr>
              <a:t>YOLO11s finds people and vehicles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58568" y="2468880"/>
            <a:ext cx="146304" cy="27432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3160" y="1737360"/>
            <a:ext cx="1691640" cy="173736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1737360"/>
            <a:ext cx="169164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965960"/>
            <a:ext cx="1417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DD4BF"/>
                </a:solidFill>
                <a:latin typeface="Segoe UI"/>
              </a:rPr>
              <a:t>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468880"/>
            <a:ext cx="14173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3A4BC"/>
                </a:solidFill>
                <a:latin typeface="Segoe UI"/>
              </a:rPr>
              <a:t>ByteTrack keeps one ID per object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33087" y="2468880"/>
            <a:ext cx="146304" cy="27432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1737360"/>
            <a:ext cx="1691640" cy="173736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737360"/>
            <a:ext cx="169164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965960"/>
            <a:ext cx="1417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DD4BF"/>
                </a:solidFill>
                <a:latin typeface="Segoe UI"/>
              </a:rPr>
              <a:t>OCR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468880"/>
            <a:ext cx="14173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3A4BC"/>
                </a:solidFill>
                <a:latin typeface="Segoe UI"/>
              </a:rPr>
              <a:t>Plate read, voted across frames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07608" y="2468880"/>
            <a:ext cx="146304" cy="27432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1737360"/>
            <a:ext cx="1691640" cy="173736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737360"/>
            <a:ext cx="169164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965960"/>
            <a:ext cx="1417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97316"/>
                </a:solidFill>
                <a:latin typeface="Segoe UI"/>
              </a:rPr>
              <a:t>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468880"/>
            <a:ext cx="14173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3A4BC"/>
                </a:solidFill>
                <a:latin typeface="Segoe UI"/>
              </a:rPr>
              <a:t>Zones · watchlists · loitering · risk score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82127" y="2468880"/>
            <a:ext cx="146304" cy="27432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1737360"/>
            <a:ext cx="1691640" cy="173736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1737360"/>
            <a:ext cx="169164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1965960"/>
            <a:ext cx="1417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97316"/>
                </a:solidFill>
                <a:latin typeface="Segoe UI"/>
              </a:rPr>
              <a:t>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2468880"/>
            <a:ext cx="14173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3A4BC"/>
                </a:solidFill>
                <a:latin typeface="Segoe UI"/>
              </a:rPr>
              <a:t>Reasons, severity, pushed live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56648" y="2468880"/>
            <a:ext cx="146304" cy="27432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21240" y="1737360"/>
            <a:ext cx="1691640" cy="173736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21240" y="1737360"/>
            <a:ext cx="169164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0" y="1965960"/>
            <a:ext cx="14173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EF4444"/>
                </a:solidFill>
                <a:latin typeface="Segoe UI"/>
              </a:rPr>
              <a:t>Incident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468880"/>
            <a:ext cx="14173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3A4BC"/>
                </a:solidFill>
                <a:latin typeface="Segoe UI"/>
              </a:rPr>
              <a:t>CRITICAL alerts open or join 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31920"/>
            <a:ext cx="11064240" cy="585216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005072"/>
            <a:ext cx="10698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6EDF6"/>
                </a:solidFill>
                <a:latin typeface="Segoe UI"/>
              </a:rPr>
              <a:t>A one-frame plate read is stored but goes to review; CRITICAL watchlist alerts need corroboration across frames.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645152"/>
            <a:ext cx="11064240" cy="585216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718304"/>
            <a:ext cx="10698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6EDF6"/>
                </a:solidFill>
                <a:latin typeface="Segoe UI"/>
              </a:rPr>
              <a:t>Cooldowns per camera, rule and track stop one object raising the same alert every frame.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358383"/>
            <a:ext cx="11064240" cy="585216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431536"/>
            <a:ext cx="1069848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6EDF6"/>
                </a:solidFill>
                <a:latin typeface="Segoe UI"/>
              </a:rPr>
              <a:t>One vehicle crossing several cameras becomes one incident whose title and priority grow with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GIS and camera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7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19 of 30 grid cameras mapped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8249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Positions looked up in OpenStreetMap from each camera's place 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5292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11 intentionally not mapped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87121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F97316"/>
                </a:solidFill>
                <a:latin typeface="Segoe UI"/>
              </a:rPr>
              <a:t>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8211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No reliable match, so they are not guessed; the map says 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4164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Clustered markers + legend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05993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7083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Cameras sharing a spot (three in Bilimora) form one marker; amber = degraded.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036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Vehicle journey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24865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5955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Sightings drawn on camera positions; GRID-cam06 verified at Timbavadi, Junagadh.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52744" y="1563624"/>
            <a:ext cx="5696712" cy="469087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2_camer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27433"/>
            <a:ext cx="5623560" cy="31632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ALERTS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Alerts, incidents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7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8249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Reasons, severity and risk factors; acknowledge, escalate or dismiss.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5292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Incidents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87121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8211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Correlated across cameras, with notes and a summary.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4164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05993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2D3EE"/>
                </a:solidFill>
                <a:latin typeface="Segoe UI"/>
              </a:rPr>
              <a:t>DEMONSTRATED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7083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Snapshot per alert, event clips, operator REC recordings; SHA-256 at capture, VERIFIED on 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036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Evidence package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24865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5955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Per incident, JSON or PDF, optional plate redaction; every access audited.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52744" y="1563624"/>
            <a:ext cx="5696712" cy="469087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1_evidenc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27433"/>
            <a:ext cx="5623560" cy="31632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Self-Heal and reliability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7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Camera 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8249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Each camera reports CONNECTED, PROCESSING, DEGRADED, RECONNECTING or AUTH_ERROR.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5292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Reconnect + backoff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87121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8211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Per-camera backoff; a grid-wide breaker pauses 5 to 60 min and probes with one camera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4164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Database retry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05993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7083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Locked writes are rolled back, reapplied and logged as Self-Heal events.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036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Failure isolation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24865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5955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One camera crashing never stops the others; the dashboard WebSocket reconnects itself.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52744" y="1563624"/>
            <a:ext cx="5696712" cy="469087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6_self_heal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27433"/>
            <a:ext cx="5623560" cy="31632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Security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7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Authentication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8249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bcrypt password hashes, JWT sessions, login rate limiting.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5292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RBAC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87121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8211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Five roles checked on every API route: Administrator, Control Room Operator, Investigator, Supervisor, Auditor.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4164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Resource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059935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70831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Short-lived signed tokens for live streams (1 h) and evidence files (5 min).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5120640" cy="1060704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0368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6EDF6"/>
                </a:solidFill>
                <a:latin typeface="Segoe UI"/>
              </a:rPr>
              <a:t>Audit trail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248656"/>
            <a:ext cx="1143000" cy="237744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00" b="1">
                <a:solidFill>
                  <a:srgbClr val="2DD4BF"/>
                </a:solidFill>
                <a:latin typeface="Segoe UI"/>
              </a:rPr>
              <a:t>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59552"/>
            <a:ext cx="48006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93A4BC"/>
                </a:solidFill>
                <a:latin typeface="Segoe UI"/>
              </a:rPr>
              <a:t>Hash-chained audit log; a verify endpoint detects any edited or deleted row.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52744" y="1563624"/>
            <a:ext cx="5696712" cy="469087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8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27433"/>
            <a:ext cx="5623560" cy="31632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CURRENT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What works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3" y="1517904"/>
            <a:ext cx="3136392" cy="181051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1623"/>
            <a:ext cx="3063240" cy="17230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364991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3A4BC"/>
                </a:solidFill>
                <a:latin typeface="Segoe UI"/>
              </a:rPr>
              <a:t>Command centre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8183" y="1517904"/>
            <a:ext cx="3136392" cy="181051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2_vehicle_jour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59" y="1561623"/>
            <a:ext cx="3063240" cy="17230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94759" y="3364991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3A4BC"/>
                </a:solidFill>
                <a:latin typeface="Segoe UI"/>
              </a:rPr>
              <a:t>Vehicle journey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3" y="3895344"/>
            <a:ext cx="3136392" cy="181051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7_alert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39063"/>
            <a:ext cx="3063240" cy="17230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42431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3A4BC"/>
                </a:solidFill>
                <a:latin typeface="Segoe UI"/>
              </a:rPr>
              <a:t>Alert detail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8183" y="3895344"/>
            <a:ext cx="3136392" cy="181051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9_incident_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59" y="3939063"/>
            <a:ext cx="3063240" cy="17230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94759" y="5742431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3A4BC"/>
                </a:solidFill>
                <a:latin typeface="Segoe UI"/>
              </a:rPr>
              <a:t>Incident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1554480"/>
            <a:ext cx="4389120" cy="210312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1554480"/>
            <a:ext cx="64008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691639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2D3EE"/>
                </a:solidFill>
                <a:latin typeface="Segoe UI"/>
              </a:rPr>
              <a:t>Demonstrated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103120"/>
            <a:ext cx="40233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6EDF6"/>
                </a:solidFill>
                <a:latin typeface="Segoe UI"/>
              </a:rPr>
              <a:t>Login, dashboard, camera registry and map, live AI detection and tracking, ANPR, zone alerts, incidents, evidence with integrity check, Self-Heal screens.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3931920"/>
            <a:ext cx="4389120" cy="210312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60" y="3931920"/>
            <a:ext cx="64008" cy="21031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4069080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97316"/>
                </a:solidFill>
                <a:latin typeface="Segoe UI"/>
              </a:rPr>
              <a:t>Known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480559"/>
            <a:ext cx="40233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6EDF6"/>
                </a:solidFill>
                <a:latin typeface="Segoe UI"/>
              </a:rPr>
              <a:t>Grid streaming is partial: about 29 cameras degraded and about 3.4 Mbit/s observed recently. SQLite is single-writer; a login-contention fix is tested but not yet re-verified with 30 live grid streams.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From today to larger deployments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40680" cy="6400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37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DD4BF"/>
                </a:solidFill>
                <a:latin typeface="Segoe UI"/>
              </a:rPr>
              <a:t>Current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37760" cy="3840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DD4BF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Single backend process, one asyncio task per camera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2DD4BF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SQLite (WAL) for the demo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2DD4BF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PostgreSQL 16 + PostGIS in Docker Compose, built and migrated by CI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2DD4BF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Valkey for shared cooldowns and rate limits (optional)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2DD4BF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Tested: 1101 backend tests, 23 frontend unit tests, 10 browser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44068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4937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A78BFA"/>
                </a:solidFill>
                <a:latin typeface="Segoe UI"/>
              </a:rPr>
              <a:t>Planned / future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4937760" cy="3840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78BFA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PostgreSQL as the default database, load-tested with a live fleet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A78BFA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Separate AI worker processes / nodes per camera group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A78BFA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Event streaming between ingestion, analytics and alerting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A78BFA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Edge AI at camera clusters sending events, not full video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A78BFA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More VMS adapters (ONVIF, vendor SDKs); container orchestration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Expected benefits and how to measure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4068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83080"/>
            <a:ext cx="4937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2D3EE"/>
                </a:solidFill>
                <a:latin typeface="Segoe UI"/>
              </a:rPr>
              <a:t>Expected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4937760" cy="3840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2D3EE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Operators work from alerts instead of watching every feed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22D3EE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Faster identification of watch-listed vehicles and zone intrusions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22D3EE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Investigations start from a vehicle journey and an evidence package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22D3EE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Camera failures are visible and mostly self-recovering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22D3EE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Every action and evidence access is accountable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4406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49377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59E0B"/>
                </a:solidFill>
                <a:latin typeface="Segoe UI"/>
              </a:rPr>
              <a:t>Evaluation metrics for a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4937760" cy="3840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59E0B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Time from event to operator alert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F59E0B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False alerts per camera-hour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F59E0B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Plate read rate and plate accuracy on the pilot's own cameras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F59E0B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Camera uptime and time to recover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>
                <a:solidFill>
                  <a:srgbClr val="F59E0B"/>
                </a:solidFill>
                <a:latin typeface="Segoe UI"/>
              </a:rPr>
              <a:t>■  </a:t>
            </a:r>
            <a:r>
              <a:rPr sz="1450" b="0">
                <a:solidFill>
                  <a:srgbClr val="E6EDF6"/>
                </a:solidFill>
                <a:latin typeface="Segoe UI"/>
              </a:rPr>
              <a:t>Time to assemble an incident's 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6EDF6"/>
                </a:solidFill>
                <a:latin typeface="Segoe UI"/>
              </a:rPr>
              <a:t>SENTINEL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822960" cy="3657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SENTINEL VISION · Unified CCTV Intelligence &amp; Real-Time Smart Policing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93A4BC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E6EDF6"/>
                </a:solidFill>
                <a:latin typeface="Segoe UI"/>
              </a:rPr>
              <a:t>A working, tested CCTV intelligence platform: cameras from mixed sources, AI detection, tracking and plate reading, rule-based alerts and incidents, verifiable evidence, a camera map and Self-Heal, secured with RBAC and a tamper-evident audit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64008" cy="71323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6EDF6"/>
                </a:solidFill>
                <a:latin typeface="Segoe UI"/>
              </a:rPr>
              <a:t>Built and demonstrated on real footage from a 30-camera grid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64008" cy="7132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6EDF6"/>
                </a:solidFill>
                <a:latin typeface="Segoe UI"/>
              </a:rPr>
              <a:t>Honest about limits: partial grid streaming, SQLite demo database, 19 of 30 cameras mapped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83479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2223A"/>
          </a:solidFill>
          <a:ln w="12700">
            <a:solidFill>
              <a:srgbClr val="244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83479"/>
            <a:ext cx="64008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74919"/>
            <a:ext cx="1060704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6EDF6"/>
                </a:solidFill>
                <a:latin typeface="Segoe UI"/>
              </a:rPr>
              <a:t>Clear next step: a pilot on PostgreSQL with separate AI workers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Thank you · github.com/RuudyLinux/SENTINEL-AI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